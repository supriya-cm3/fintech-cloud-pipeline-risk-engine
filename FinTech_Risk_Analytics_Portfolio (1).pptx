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7188b29-5eba-192f-91ff-33847766f95a}">
          <p14:sldIdLst>
            <p14:sldId id="256"/>
          </p14:sldIdLst>
        </p14:section>
        <p14:section name="Approach" id="{a9e11ec7-b06f-2c31-c079-beafcafeed2d}">
          <p14:sldIdLst>
            <p14:sldId id="257"/>
            <p14:sldId id="258"/>
            <p14:sldId id="259"/>
          </p14:sldIdLst>
        </p14:section>
        <p14:section name="Results" id="{400faf32-4fd1-3fc0-b77b-350c9026f295}">
          <p14:sldIdLst>
            <p14:sldId id="260"/>
            <p14:sldId id="261"/>
            <p14:sldId id="262"/>
            <p14:sldId id="263"/>
          </p14:sldIdLst>
        </p14:section>
        <p14:section name="Wrap-up" id="{f7e1162a-8884-f993-7238-5c9a7441f1a6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+mn-lt"/>
              </a:rPr>
              <a:t>High-risk anomaly rate by asset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High-risk anomaly rate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PYPL</c:v>
                  </c:pt>
                  <c:pt idx="1">
                    <c:v>VISA-US</c:v>
                  </c:pt>
                  <c:pt idx="2">
                    <c:v>AAPL</c:v>
                  </c:pt>
                  <c:pt idx="3">
                    <c:v>BTC-USD</c:v>
                  </c:pt>
                  <c:pt idx="4">
                    <c:v>ETH-USD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28.6</c:v>
                </c:pt>
                <c:pt idx="2">
                  <c:v>20</c:v>
                </c:pt>
                <c:pt idx="3">
                  <c:v>18.2</c:v>
                </c:pt>
                <c:pt idx="4">
                  <c:v>16.7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project name, and the one-line value: automated FinTech risk analytics from raw data to executive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tool and what job it does, then explain why automation matters for a business: speed, accuracy, scale, 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old manual process with the automated one. Add your own measured numbers here, for example how long the manual report took versus one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stages, left to right. Highlight Gemini as the GenAI layer and the governance point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Pandas calculates exposure, volatility spread, anomaly rate and whale trades per asset. PYPL is the standout anomaly; BTC-USD carries the biggest exposure.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GenAI layer. Mention the troubleshooting story: key passed in the header instead of the URL resolved the 404s.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shows risk score, record count, volume split by ticker, and a detail table. The chart on the right comes from the risk report: PYPL and VISA-US show the highest anomaly 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analysis as a decision. Be clear that these findings come from a small simulated sample, so the recommendation is to validate on more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numbers back to business value. Enterprise data isolation was covered on the architecture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upfront about limits builds credibility. The lending-data next step connects the project to your day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skills this project demonstrates, then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63093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8229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5"/>
                </a:solidFill>
              </a:rPr>
              <a:t>PORTFOLIO CASE STUDY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41732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FinTech Cloud Data Ingestion &amp; Portfolio Risk Analytics Engine</a:t>
            </a:r>
            <a:endParaRPr lang="en-US" sz="3800" dirty="0"/>
          </a:p>
        </p:txBody>
      </p:sp>
      <p:sp>
        <p:nvSpPr>
          <p:cNvPr id="4" name="Project description"/>
          <p:cNvSpPr txBox="1"/>
          <p:nvPr/>
        </p:nvSpPr>
        <p:spPr>
          <a:xfrm>
            <a:off x="640080" y="38404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An automated pipeline that moves simulated multi-asset market data from Python into BigQuery, adds a Gemini-written executive summary, and delivers live Looker Studio dashboards. It replaces multi-step manual risk reporting with a one-click run.</a:t>
            </a:r>
            <a:endParaRPr lang="en-US" sz="1600" dirty="0"/>
          </a:p>
        </p:txBody>
      </p:sp>
      <p:sp>
        <p:nvSpPr>
          <p:cNvPr id="5" name="Presenter name"/>
          <p:cNvSpPr txBox="1"/>
          <p:nvPr/>
        </p:nvSpPr>
        <p:spPr>
          <a:xfrm>
            <a:off x="640080" y="5440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Supriya</a:t>
            </a:r>
            <a:endParaRPr lang="en-US" sz="2600" dirty="0"/>
          </a:p>
        </p:txBody>
      </p:sp>
      <p:sp>
        <p:nvSpPr>
          <p:cNvPr id="6" name="Presenter role"/>
          <p:cNvSpPr txBox="1"/>
          <p:nvPr/>
        </p:nvSpPr>
        <p:spPr>
          <a:xfrm>
            <a:off x="640080" y="5943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Business Analyst  |  Data Analyst</a:t>
            </a:r>
            <a:endParaRPr lang="en-US" sz="1600" dirty="0"/>
          </a:p>
        </p:txBody>
      </p:sp>
      <p:sp>
        <p:nvSpPr>
          <p:cNvPr id="7" name="Image frame"/>
          <p:cNvSpPr/>
          <p:nvPr/>
        </p:nvSpPr>
        <p:spPr>
          <a:xfrm>
            <a:off x="7269480" y="1325880"/>
            <a:ext cx="4434840" cy="3429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8" name="Image 0" descr="Looker Studio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463040"/>
            <a:ext cx="4160520" cy="3098721"/>
          </a:xfrm>
          <a:prstGeom prst="rect">
            <a:avLst/>
          </a:prstGeom>
        </p:spPr>
      </p:pic>
      <p:sp>
        <p:nvSpPr>
          <p:cNvPr id="9" name="Image caption"/>
          <p:cNvSpPr txBox="1"/>
          <p:nvPr/>
        </p:nvSpPr>
        <p:spPr>
          <a:xfrm>
            <a:off x="7269480" y="49377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Live Looker Studio dashboard built on BigQuery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Tools Used to Automate &amp; Why It Matters</a:t>
            </a:r>
            <a:endParaRPr lang="en-US" sz="3200" dirty="0"/>
          </a:p>
        </p:txBody>
      </p:sp>
      <p:sp>
        <p:nvSpPr>
          <p:cNvPr id="3" name="Tool card 1"/>
          <p:cNvSpPr/>
          <p:nvPr/>
        </p:nvSpPr>
        <p:spPr>
          <a:xfrm>
            <a:off x="548640" y="1463040"/>
            <a:ext cx="630936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ool number 1"/>
          <p:cNvSpPr/>
          <p:nvPr/>
        </p:nvSpPr>
        <p:spPr>
          <a:xfrm>
            <a:off x="731520" y="159105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ool number 1 label"/>
          <p:cNvSpPr txBox="1"/>
          <p:nvPr/>
        </p:nvSpPr>
        <p:spPr>
          <a:xfrm>
            <a:off x="731520" y="1591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ool name 1"/>
          <p:cNvSpPr txBox="1"/>
          <p:nvPr/>
        </p:nvSpPr>
        <p:spPr>
          <a:xfrm>
            <a:off x="1508760" y="15544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Python + Pandas</a:t>
            </a:r>
            <a:endParaRPr lang="en-US" sz="1800" dirty="0"/>
          </a:p>
        </p:txBody>
      </p:sp>
      <p:sp>
        <p:nvSpPr>
          <p:cNvPr id="7" name="Tool role 1"/>
          <p:cNvSpPr txBox="1"/>
          <p:nvPr/>
        </p:nvSpPr>
        <p:spPr>
          <a:xfrm>
            <a:off x="1508760" y="19019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Simulates the market stream and computes risk metrics</a:t>
            </a:r>
            <a:endParaRPr lang="en-US" sz="1400" dirty="0"/>
          </a:p>
        </p:txBody>
      </p:sp>
      <p:sp>
        <p:nvSpPr>
          <p:cNvPr id="8" name="Tool card 2"/>
          <p:cNvSpPr/>
          <p:nvPr/>
        </p:nvSpPr>
        <p:spPr>
          <a:xfrm>
            <a:off x="548640" y="2377440"/>
            <a:ext cx="630936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ool number 2"/>
          <p:cNvSpPr/>
          <p:nvPr/>
        </p:nvSpPr>
        <p:spPr>
          <a:xfrm>
            <a:off x="731520" y="250545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ool number 2 label"/>
          <p:cNvSpPr txBox="1"/>
          <p:nvPr/>
        </p:nvSpPr>
        <p:spPr>
          <a:xfrm>
            <a:off x="73152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ool name 2"/>
          <p:cNvSpPr txBox="1"/>
          <p:nvPr/>
        </p:nvSpPr>
        <p:spPr>
          <a:xfrm>
            <a:off x="1508760" y="24688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Google BigQuery</a:t>
            </a:r>
            <a:endParaRPr lang="en-US" sz="1800" dirty="0"/>
          </a:p>
        </p:txBody>
      </p:sp>
      <p:sp>
        <p:nvSpPr>
          <p:cNvPr id="12" name="Tool role 2"/>
          <p:cNvSpPr txBox="1"/>
          <p:nvPr/>
        </p:nvSpPr>
        <p:spPr>
          <a:xfrm>
            <a:off x="1508760" y="28163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Scalable cloud data warehouse for all records</a:t>
            </a:r>
            <a:endParaRPr lang="en-US" sz="1400" dirty="0"/>
          </a:p>
        </p:txBody>
      </p:sp>
      <p:sp>
        <p:nvSpPr>
          <p:cNvPr id="13" name="Tool card 3"/>
          <p:cNvSpPr/>
          <p:nvPr/>
        </p:nvSpPr>
        <p:spPr>
          <a:xfrm>
            <a:off x="548640" y="3291840"/>
            <a:ext cx="630936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ool number 3"/>
          <p:cNvSpPr/>
          <p:nvPr/>
        </p:nvSpPr>
        <p:spPr>
          <a:xfrm>
            <a:off x="731520" y="341985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ool number 3 label"/>
          <p:cNvSpPr txBox="1"/>
          <p:nvPr/>
        </p:nvSpPr>
        <p:spPr>
          <a:xfrm>
            <a:off x="731520" y="3419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ool name 3"/>
          <p:cNvSpPr txBox="1"/>
          <p:nvPr/>
        </p:nvSpPr>
        <p:spPr>
          <a:xfrm>
            <a:off x="1508760" y="33832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IAM Service Account</a:t>
            </a:r>
            <a:endParaRPr lang="en-US" sz="1800" dirty="0"/>
          </a:p>
        </p:txBody>
      </p:sp>
      <p:sp>
        <p:nvSpPr>
          <p:cNvPr id="17" name="Tool role 3"/>
          <p:cNvSpPr txBox="1"/>
          <p:nvPr/>
        </p:nvSpPr>
        <p:spPr>
          <a:xfrm>
            <a:off x="1508760" y="37307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Secure JSON-key access to the warehouse</a:t>
            </a:r>
            <a:endParaRPr lang="en-US" sz="1400" dirty="0"/>
          </a:p>
        </p:txBody>
      </p:sp>
      <p:sp>
        <p:nvSpPr>
          <p:cNvPr id="18" name="Tool card 4"/>
          <p:cNvSpPr/>
          <p:nvPr/>
        </p:nvSpPr>
        <p:spPr>
          <a:xfrm>
            <a:off x="548640" y="4206240"/>
            <a:ext cx="630936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ool number 4"/>
          <p:cNvSpPr/>
          <p:nvPr/>
        </p:nvSpPr>
        <p:spPr>
          <a:xfrm>
            <a:off x="731520" y="433425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ool number 4 label"/>
          <p:cNvSpPr txBox="1"/>
          <p:nvPr/>
        </p:nvSpPr>
        <p:spPr>
          <a:xfrm>
            <a:off x="731520" y="4334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ool name 4"/>
          <p:cNvSpPr txBox="1"/>
          <p:nvPr/>
        </p:nvSpPr>
        <p:spPr>
          <a:xfrm>
            <a:off x="1508760" y="42976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Gemini 1.5 Flash</a:t>
            </a:r>
            <a:endParaRPr lang="en-US" sz="1800" dirty="0"/>
          </a:p>
        </p:txBody>
      </p:sp>
      <p:sp>
        <p:nvSpPr>
          <p:cNvPr id="22" name="Tool role 4"/>
          <p:cNvSpPr txBox="1"/>
          <p:nvPr/>
        </p:nvSpPr>
        <p:spPr>
          <a:xfrm>
            <a:off x="1508760" y="46451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Writes the plain-English executive summary</a:t>
            </a:r>
            <a:endParaRPr lang="en-US" sz="1400" dirty="0"/>
          </a:p>
        </p:txBody>
      </p:sp>
      <p:sp>
        <p:nvSpPr>
          <p:cNvPr id="23" name="Tool card 5"/>
          <p:cNvSpPr/>
          <p:nvPr/>
        </p:nvSpPr>
        <p:spPr>
          <a:xfrm>
            <a:off x="548640" y="5120640"/>
            <a:ext cx="630936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ool number 5"/>
          <p:cNvSpPr/>
          <p:nvPr/>
        </p:nvSpPr>
        <p:spPr>
          <a:xfrm>
            <a:off x="731520" y="524865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ool number 5 label"/>
          <p:cNvSpPr txBox="1"/>
          <p:nvPr/>
        </p:nvSpPr>
        <p:spPr>
          <a:xfrm>
            <a:off x="731520" y="5248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ool name 5"/>
          <p:cNvSpPr txBox="1"/>
          <p:nvPr/>
        </p:nvSpPr>
        <p:spPr>
          <a:xfrm>
            <a:off x="1508760" y="52120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Looker Studio</a:t>
            </a:r>
            <a:endParaRPr lang="en-US" sz="1800" dirty="0"/>
          </a:p>
        </p:txBody>
      </p:sp>
      <p:sp>
        <p:nvSpPr>
          <p:cNvPr id="27" name="Tool role 5"/>
          <p:cNvSpPr txBox="1"/>
          <p:nvPr/>
        </p:nvSpPr>
        <p:spPr>
          <a:xfrm>
            <a:off x="1508760" y="55595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Live dashboards for leadership</a:t>
            </a:r>
            <a:endParaRPr lang="en-US" sz="1400" dirty="0"/>
          </a:p>
        </p:txBody>
      </p:sp>
      <p:sp>
        <p:nvSpPr>
          <p:cNvPr id="28" name="Why panel"/>
          <p:cNvSpPr/>
          <p:nvPr/>
        </p:nvSpPr>
        <p:spPr>
          <a:xfrm>
            <a:off x="7223760" y="1463040"/>
            <a:ext cx="4416552" cy="4462272"/>
          </a:xfrm>
          <a:prstGeom prst="roundRect">
            <a:avLst>
              <a:gd name="adj" fmla="val 248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Why heading"/>
          <p:cNvSpPr txBox="1"/>
          <p:nvPr/>
        </p:nvSpPr>
        <p:spPr>
          <a:xfrm>
            <a:off x="754380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Why automate?</a:t>
            </a:r>
            <a:endParaRPr lang="en-US" sz="2400" dirty="0"/>
          </a:p>
        </p:txBody>
      </p:sp>
      <p:sp>
        <p:nvSpPr>
          <p:cNvPr id="30" name="Why point 1"/>
          <p:cNvSpPr txBox="1"/>
          <p:nvPr/>
        </p:nvSpPr>
        <p:spPr>
          <a:xfrm>
            <a:off x="7543800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Speed</a:t>
            </a:r>
            <a:endParaRPr lang="en-US" sz="1600" dirty="0"/>
          </a:p>
        </p:txBody>
      </p:sp>
      <p:sp>
        <p:nvSpPr>
          <p:cNvPr id="31" name="Why detail 1"/>
          <p:cNvSpPr txBox="1"/>
          <p:nvPr/>
        </p:nvSpPr>
        <p:spPr>
          <a:xfrm>
            <a:off x="7543800" y="26426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Hours of manual reporting become a single click.</a:t>
            </a:r>
            <a:endParaRPr lang="en-US" sz="1400" dirty="0"/>
          </a:p>
        </p:txBody>
      </p:sp>
      <p:sp>
        <p:nvSpPr>
          <p:cNvPr id="32" name="Why point 2"/>
          <p:cNvSpPr txBox="1"/>
          <p:nvPr/>
        </p:nvSpPr>
        <p:spPr>
          <a:xfrm>
            <a:off x="7543800" y="3218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Accuracy</a:t>
            </a:r>
            <a:endParaRPr lang="en-US" sz="1600" dirty="0"/>
          </a:p>
        </p:txBody>
      </p:sp>
      <p:sp>
        <p:nvSpPr>
          <p:cNvPr id="33" name="Why detail 2"/>
          <p:cNvSpPr txBox="1"/>
          <p:nvPr/>
        </p:nvSpPr>
        <p:spPr>
          <a:xfrm>
            <a:off x="7543800" y="35295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No manual copy-paste or spreadsheet regrouping.</a:t>
            </a:r>
            <a:endParaRPr lang="en-US" sz="1400" dirty="0"/>
          </a:p>
        </p:txBody>
      </p:sp>
      <p:sp>
        <p:nvSpPr>
          <p:cNvPr id="34" name="Why point 3"/>
          <p:cNvSpPr txBox="1"/>
          <p:nvPr/>
        </p:nvSpPr>
        <p:spPr>
          <a:xfrm>
            <a:off x="7543800" y="41056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Scale</a:t>
            </a:r>
            <a:endParaRPr lang="en-US" sz="1600" dirty="0"/>
          </a:p>
        </p:txBody>
      </p:sp>
      <p:sp>
        <p:nvSpPr>
          <p:cNvPr id="35" name="Why detail 3"/>
          <p:cNvSpPr txBox="1"/>
          <p:nvPr/>
        </p:nvSpPr>
        <p:spPr>
          <a:xfrm>
            <a:off x="7543800" y="4416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2.5M+ volume units processed with no manual effort.</a:t>
            </a:r>
            <a:endParaRPr lang="en-US" sz="1400" dirty="0"/>
          </a:p>
        </p:txBody>
      </p:sp>
      <p:sp>
        <p:nvSpPr>
          <p:cNvPr id="36" name="Why point 4"/>
          <p:cNvSpPr txBox="1"/>
          <p:nvPr/>
        </p:nvSpPr>
        <p:spPr>
          <a:xfrm>
            <a:off x="7543800" y="49926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Consistency</a:t>
            </a:r>
            <a:endParaRPr lang="en-US" sz="1600" dirty="0"/>
          </a:p>
        </p:txBody>
      </p:sp>
      <p:sp>
        <p:nvSpPr>
          <p:cNvPr id="37" name="Why detail 4"/>
          <p:cNvSpPr txBox="1"/>
          <p:nvPr/>
        </p:nvSpPr>
        <p:spPr>
          <a:xfrm>
            <a:off x="7543800" y="5303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The same trusted logic runs on every refresh.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Business Case: Manual vs Automated</a:t>
            </a:r>
            <a:endParaRPr lang="en-US" sz="3200" dirty="0"/>
          </a:p>
        </p:txBody>
      </p:sp>
      <p:sp>
        <p:nvSpPr>
          <p:cNvPr id="3" name="Before card"/>
          <p:cNvSpPr/>
          <p:nvPr/>
        </p:nvSpPr>
        <p:spPr>
          <a:xfrm>
            <a:off x="548640" y="1463040"/>
            <a:ext cx="4023360" cy="44805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efore heading"/>
          <p:cNvSpPr txBox="1"/>
          <p:nvPr/>
        </p:nvSpPr>
        <p:spPr>
          <a:xfrm>
            <a:off x="82296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Before: manual</a:t>
            </a:r>
            <a:endParaRPr lang="en-US" sz="2200" dirty="0"/>
          </a:p>
        </p:txBody>
      </p:sp>
      <p:sp>
        <p:nvSpPr>
          <p:cNvPr id="5" name="Before list"/>
          <p:cNvSpPr txBox="1"/>
          <p:nvPr/>
        </p:nvSpPr>
        <p:spPr>
          <a:xfrm>
            <a:off x="822960" y="228600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Ad-hoc SQL queries written for every request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Manual spreadsheet grouping and cleanup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Hours of lag before leadership sees numbers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Hard to repeat and easy to get wrong</a:t>
            </a:r>
            <a:endParaRPr lang="en-US" sz="1600" dirty="0"/>
          </a:p>
        </p:txBody>
      </p:sp>
      <p:sp>
        <p:nvSpPr>
          <p:cNvPr id="6" name="Stat card"/>
          <p:cNvSpPr/>
          <p:nvPr/>
        </p:nvSpPr>
        <p:spPr>
          <a:xfrm>
            <a:off x="4754880" y="146304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tat value"/>
          <p:cNvSpPr txBox="1"/>
          <p:nvPr/>
        </p:nvSpPr>
        <p:spPr>
          <a:xfrm>
            <a:off x="4754880" y="22860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1 click</a:t>
            </a:r>
            <a:endParaRPr lang="en-US" sz="4800" dirty="0"/>
          </a:p>
        </p:txBody>
      </p:sp>
      <p:sp>
        <p:nvSpPr>
          <p:cNvPr id="8" name="Stat label"/>
          <p:cNvSpPr txBox="1"/>
          <p:nvPr/>
        </p:nvSpPr>
        <p:spPr>
          <a:xfrm>
            <a:off x="498348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replaces multi-step manual reporting</a:t>
            </a:r>
            <a:endParaRPr lang="en-US" sz="1600" dirty="0"/>
          </a:p>
        </p:txBody>
      </p:sp>
      <p:sp>
        <p:nvSpPr>
          <p:cNvPr id="9" name="Stat sub-label"/>
          <p:cNvSpPr txBox="1"/>
          <p:nvPr/>
        </p:nvSpPr>
        <p:spPr>
          <a:xfrm>
            <a:off x="4983480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query to dashboard</a:t>
            </a:r>
            <a:endParaRPr lang="en-US" sz="1400" dirty="0"/>
          </a:p>
        </p:txBody>
      </p:sp>
      <p:sp>
        <p:nvSpPr>
          <p:cNvPr id="10" name="After card"/>
          <p:cNvSpPr/>
          <p:nvPr/>
        </p:nvSpPr>
        <p:spPr>
          <a:xfrm>
            <a:off x="7589520" y="1463040"/>
            <a:ext cx="4050792" cy="4480560"/>
          </a:xfrm>
          <a:prstGeom prst="roundRect">
            <a:avLst>
              <a:gd name="adj" fmla="val 27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After heading"/>
          <p:cNvSpPr txBox="1"/>
          <p:nvPr/>
        </p:nvSpPr>
        <p:spPr>
          <a:xfrm>
            <a:off x="786384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After: automated</a:t>
            </a:r>
            <a:endParaRPr lang="en-US" sz="2200" dirty="0"/>
          </a:p>
        </p:txBody>
      </p:sp>
      <p:sp>
        <p:nvSpPr>
          <p:cNvPr id="12" name="After list"/>
          <p:cNvSpPr txBox="1"/>
          <p:nvPr/>
        </p:nvSpPr>
        <p:spPr>
          <a:xfrm>
            <a:off x="7863840" y="228600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Pipeline runs end to end with one command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BigQuery to Pandas to Gemini to Looker Studio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Executive summary written in plain English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Live dashboard always reflects the warehouse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End-to-End Pipeline Architecture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508760"/>
            <a:ext cx="2011680" cy="30632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number 1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 number 1 label"/>
          <p:cNvSpPr txBox="1"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title 1"/>
          <p:cNvSpPr txBox="1"/>
          <p:nvPr/>
        </p:nvSpPr>
        <p:spPr>
          <a:xfrm>
            <a:off x="73152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Ingest</a:t>
            </a:r>
            <a:endParaRPr lang="en-US" sz="2000" dirty="0"/>
          </a:p>
        </p:txBody>
      </p:sp>
      <p:sp>
        <p:nvSpPr>
          <p:cNvPr id="7" name="Step detail 1"/>
          <p:cNvSpPr txBox="1"/>
          <p:nvPr/>
        </p:nvSpPr>
        <p:spPr>
          <a:xfrm>
            <a:off x="731520" y="28346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Python engine simulates a live market stream: BTC, ETH, AAPL, PYPL, VISA.</a:t>
            </a:r>
            <a:endParaRPr lang="en-US" sz="1400" dirty="0"/>
          </a:p>
        </p:txBody>
      </p:sp>
      <p:sp>
        <p:nvSpPr>
          <p:cNvPr id="8" name="Arrow 1"/>
          <p:cNvSpPr txBox="1"/>
          <p:nvPr/>
        </p:nvSpPr>
        <p:spPr>
          <a:xfrm>
            <a:off x="2560320" y="27432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tep card 2"/>
          <p:cNvSpPr/>
          <p:nvPr/>
        </p:nvSpPr>
        <p:spPr>
          <a:xfrm>
            <a:off x="2807208" y="1508760"/>
            <a:ext cx="2011680" cy="30632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number 2"/>
          <p:cNvSpPr/>
          <p:nvPr/>
        </p:nvSpPr>
        <p:spPr>
          <a:xfrm>
            <a:off x="2990088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tep number 2 label"/>
          <p:cNvSpPr txBox="1"/>
          <p:nvPr/>
        </p:nvSpPr>
        <p:spPr>
          <a:xfrm>
            <a:off x="29900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 title 2"/>
          <p:cNvSpPr txBox="1"/>
          <p:nvPr/>
        </p:nvSpPr>
        <p:spPr>
          <a:xfrm>
            <a:off x="2990088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Store</a:t>
            </a:r>
            <a:endParaRPr lang="en-US" sz="2000" dirty="0"/>
          </a:p>
        </p:txBody>
      </p:sp>
      <p:sp>
        <p:nvSpPr>
          <p:cNvPr id="13" name="Step detail 2"/>
          <p:cNvSpPr txBox="1"/>
          <p:nvPr/>
        </p:nvSpPr>
        <p:spPr>
          <a:xfrm>
            <a:off x="2990088" y="28346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BigQuery warehouse, secured with an IAM service account and JSON key.</a:t>
            </a:r>
            <a:endParaRPr lang="en-US" sz="1400" dirty="0"/>
          </a:p>
        </p:txBody>
      </p:sp>
      <p:sp>
        <p:nvSpPr>
          <p:cNvPr id="14" name="Arrow 2"/>
          <p:cNvSpPr txBox="1"/>
          <p:nvPr/>
        </p:nvSpPr>
        <p:spPr>
          <a:xfrm>
            <a:off x="4818888" y="27432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15" name="Step card 3"/>
          <p:cNvSpPr/>
          <p:nvPr/>
        </p:nvSpPr>
        <p:spPr>
          <a:xfrm>
            <a:off x="5065776" y="1508760"/>
            <a:ext cx="2011680" cy="30632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number 3"/>
          <p:cNvSpPr/>
          <p:nvPr/>
        </p:nvSpPr>
        <p:spPr>
          <a:xfrm>
            <a:off x="5248656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tep number 3 label"/>
          <p:cNvSpPr txBox="1"/>
          <p:nvPr/>
        </p:nvSpPr>
        <p:spPr>
          <a:xfrm>
            <a:off x="524865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tep title 3"/>
          <p:cNvSpPr txBox="1"/>
          <p:nvPr/>
        </p:nvSpPr>
        <p:spPr>
          <a:xfrm>
            <a:off x="5248656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Analyze</a:t>
            </a:r>
            <a:endParaRPr lang="en-US" sz="2000" dirty="0"/>
          </a:p>
        </p:txBody>
      </p:sp>
      <p:sp>
        <p:nvSpPr>
          <p:cNvPr id="19" name="Step detail 3"/>
          <p:cNvSpPr txBox="1"/>
          <p:nvPr/>
        </p:nvSpPr>
        <p:spPr>
          <a:xfrm>
            <a:off x="5248656" y="28346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Pandas computes exposure, anomaly rates and whale-trade alerts.</a:t>
            </a:r>
            <a:endParaRPr lang="en-US" sz="1400" dirty="0"/>
          </a:p>
        </p:txBody>
      </p:sp>
      <p:sp>
        <p:nvSpPr>
          <p:cNvPr id="20" name="Arrow 3"/>
          <p:cNvSpPr txBox="1"/>
          <p:nvPr/>
        </p:nvSpPr>
        <p:spPr>
          <a:xfrm>
            <a:off x="7077456" y="27432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21" name="Step card 4"/>
          <p:cNvSpPr/>
          <p:nvPr/>
        </p:nvSpPr>
        <p:spPr>
          <a:xfrm>
            <a:off x="7324344" y="1508760"/>
            <a:ext cx="2011680" cy="30632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 number 4"/>
          <p:cNvSpPr/>
          <p:nvPr/>
        </p:nvSpPr>
        <p:spPr>
          <a:xfrm>
            <a:off x="7507224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Step number 4 label"/>
          <p:cNvSpPr txBox="1"/>
          <p:nvPr/>
        </p:nvSpPr>
        <p:spPr>
          <a:xfrm>
            <a:off x="750722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tep title 4"/>
          <p:cNvSpPr txBox="1"/>
          <p:nvPr/>
        </p:nvSpPr>
        <p:spPr>
          <a:xfrm>
            <a:off x="7507224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Summarize</a:t>
            </a:r>
            <a:endParaRPr lang="en-US" sz="2000" dirty="0"/>
          </a:p>
        </p:txBody>
      </p:sp>
      <p:sp>
        <p:nvSpPr>
          <p:cNvPr id="25" name="Step detail 4"/>
          <p:cNvSpPr txBox="1"/>
          <p:nvPr/>
        </p:nvSpPr>
        <p:spPr>
          <a:xfrm>
            <a:off x="7507224" y="28346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Gemini 1.5 Flash turns the metrics into an executive summary.</a:t>
            </a:r>
            <a:endParaRPr lang="en-US" sz="1400" dirty="0"/>
          </a:p>
        </p:txBody>
      </p:sp>
      <p:sp>
        <p:nvSpPr>
          <p:cNvPr id="26" name="Arrow 4"/>
          <p:cNvSpPr txBox="1"/>
          <p:nvPr/>
        </p:nvSpPr>
        <p:spPr>
          <a:xfrm>
            <a:off x="9336024" y="27432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›</a:t>
            </a:r>
            <a:endParaRPr lang="en-US" sz="2800" dirty="0"/>
          </a:p>
        </p:txBody>
      </p:sp>
      <p:sp>
        <p:nvSpPr>
          <p:cNvPr id="27" name="Step card 5"/>
          <p:cNvSpPr/>
          <p:nvPr/>
        </p:nvSpPr>
        <p:spPr>
          <a:xfrm>
            <a:off x="9582912" y="1508760"/>
            <a:ext cx="2011680" cy="30632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tep number 5"/>
          <p:cNvSpPr/>
          <p:nvPr/>
        </p:nvSpPr>
        <p:spPr>
          <a:xfrm>
            <a:off x="9765792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Step number 5 label"/>
          <p:cNvSpPr txBox="1"/>
          <p:nvPr/>
        </p:nvSpPr>
        <p:spPr>
          <a:xfrm>
            <a:off x="976579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Step title 5"/>
          <p:cNvSpPr txBox="1"/>
          <p:nvPr/>
        </p:nvSpPr>
        <p:spPr>
          <a:xfrm>
            <a:off x="9765792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Visualize</a:t>
            </a:r>
            <a:endParaRPr lang="en-US" sz="2000" dirty="0"/>
          </a:p>
        </p:txBody>
      </p:sp>
      <p:sp>
        <p:nvSpPr>
          <p:cNvPr id="31" name="Step detail 5"/>
          <p:cNvSpPr txBox="1"/>
          <p:nvPr/>
        </p:nvSpPr>
        <p:spPr>
          <a:xfrm>
            <a:off x="9765792" y="28346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Looker Studio dashboards connect directly to BigQuery.</a:t>
            </a:r>
            <a:endParaRPr lang="en-US" sz="1400" dirty="0"/>
          </a:p>
        </p:txBody>
      </p:sp>
      <p:sp>
        <p:nvSpPr>
          <p:cNvPr id="32" name="Governance banner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Governance heading"/>
          <p:cNvSpPr txBox="1"/>
          <p:nvPr/>
        </p:nvSpPr>
        <p:spPr>
          <a:xfrm>
            <a:off x="86868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Data governance</a:t>
            </a:r>
            <a:endParaRPr lang="en-US" sz="1800" dirty="0"/>
          </a:p>
        </p:txBody>
      </p:sp>
      <p:sp>
        <p:nvSpPr>
          <p:cNvPr id="34" name="Governance text"/>
          <p:cNvSpPr txBox="1"/>
          <p:nvPr/>
        </p:nvSpPr>
        <p:spPr>
          <a:xfrm>
            <a:off x="868680" y="5440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Warehouse calculation layers are kept separate from public AI endpoints to limit data exposure.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Phase 1: Advanced Portfolio Risk Report</a:t>
            </a:r>
            <a:endParaRPr lang="en-US" sz="3200" dirty="0"/>
          </a:p>
        </p:txBody>
      </p:sp>
      <p:pic>
        <p:nvPicPr>
          <p:cNvPr id="3" name="Image 0" descr="Terminal output of the comprehensive portfolio risk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675120" cy="4236590"/>
          </a:xfrm>
          <a:prstGeom prst="rect">
            <a:avLst/>
          </a:prstGeom>
        </p:spPr>
      </p:pic>
      <p:sp>
        <p:nvSpPr>
          <p:cNvPr id="4" name="Image caption"/>
          <p:cNvSpPr txBox="1"/>
          <p:nvPr/>
        </p:nvSpPr>
        <p:spPr>
          <a:xfrm>
            <a:off x="548640" y="583679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Terminal output: per-asset risk metrics from a simulated 100-record sample (about 20 records per asset)</a:t>
            </a:r>
            <a:endParaRPr lang="en-US" sz="1200" dirty="0"/>
          </a:p>
        </p:txBody>
      </p:sp>
      <p:sp>
        <p:nvSpPr>
          <p:cNvPr id="5" name="KPI card 1"/>
          <p:cNvSpPr/>
          <p:nvPr/>
        </p:nvSpPr>
        <p:spPr>
          <a:xfrm>
            <a:off x="7589520" y="1463040"/>
            <a:ext cx="405079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KPI value 1"/>
          <p:cNvSpPr txBox="1"/>
          <p:nvPr/>
        </p:nvSpPr>
        <p:spPr>
          <a:xfrm>
            <a:off x="7818120" y="1600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$36.97B</a:t>
            </a:r>
            <a:endParaRPr lang="en-US" sz="3600" dirty="0"/>
          </a:p>
        </p:txBody>
      </p:sp>
      <p:sp>
        <p:nvSpPr>
          <p:cNvPr id="7" name="KPI label 1"/>
          <p:cNvSpPr txBox="1"/>
          <p:nvPr/>
        </p:nvSpPr>
        <p:spPr>
          <a:xfrm>
            <a:off x="7818120" y="22128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BTC-USD capital exposure, the largest in the portfolio</a:t>
            </a:r>
            <a:endParaRPr lang="en-US" sz="1400" dirty="0"/>
          </a:p>
        </p:txBody>
      </p:sp>
      <p:sp>
        <p:nvSpPr>
          <p:cNvPr id="8" name="KPI card 2"/>
          <p:cNvSpPr/>
          <p:nvPr/>
        </p:nvSpPr>
        <p:spPr>
          <a:xfrm>
            <a:off x="7589520" y="3017520"/>
            <a:ext cx="405079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KPI value 2"/>
          <p:cNvSpPr txBox="1"/>
          <p:nvPr/>
        </p:nvSpPr>
        <p:spPr>
          <a:xfrm>
            <a:off x="7818120" y="3154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30.0%</a:t>
            </a:r>
            <a:endParaRPr lang="en-US" sz="3600" dirty="0"/>
          </a:p>
        </p:txBody>
      </p:sp>
      <p:sp>
        <p:nvSpPr>
          <p:cNvPr id="10" name="KPI label 2"/>
          <p:cNvSpPr txBox="1"/>
          <p:nvPr/>
        </p:nvSpPr>
        <p:spPr>
          <a:xfrm>
            <a:off x="7818120" y="37673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PYPL high-risk anomaly rate (6 flagged records), the highest of 5 assets</a:t>
            </a:r>
            <a:endParaRPr lang="en-US" sz="1400" dirty="0"/>
          </a:p>
        </p:txBody>
      </p:sp>
      <p:sp>
        <p:nvSpPr>
          <p:cNvPr id="11" name="KPI card 3"/>
          <p:cNvSpPr/>
          <p:nvPr/>
        </p:nvSpPr>
        <p:spPr>
          <a:xfrm>
            <a:off x="7589520" y="4572000"/>
            <a:ext cx="405079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KPI value 3"/>
          <p:cNvSpPr txBox="1"/>
          <p:nvPr/>
        </p:nvSpPr>
        <p:spPr>
          <a:xfrm>
            <a:off x="7818120" y="47091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20</a:t>
            </a:r>
            <a:endParaRPr lang="en-US" sz="3600" dirty="0"/>
          </a:p>
        </p:txBody>
      </p:sp>
      <p:sp>
        <p:nvSpPr>
          <p:cNvPr id="13" name="KPI label 3"/>
          <p:cNvSpPr txBox="1"/>
          <p:nvPr/>
        </p:nvSpPr>
        <p:spPr>
          <a:xfrm>
            <a:off x="7818120" y="53218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institutional whale trades detected across all assets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Phase 2: Live AI Executive Summary</a:t>
            </a:r>
            <a:endParaRPr lang="en-US" sz="3200" dirty="0"/>
          </a:p>
        </p:txBody>
      </p:sp>
      <p:pic>
        <p:nvPicPr>
          <p:cNvPr id="3" name="Image 0" descr="Terminal output of calculated cloud metrics and the AI executive summ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1672" cy="2940233"/>
          </a:xfrm>
          <a:prstGeom prst="rect">
            <a:avLst/>
          </a:prstGeom>
        </p:spPr>
      </p:pic>
      <p:sp>
        <p:nvSpPr>
          <p:cNvPr id="4" name="Workflow card"/>
          <p:cNvSpPr/>
          <p:nvPr/>
        </p:nvSpPr>
        <p:spPr>
          <a:xfrm>
            <a:off x="548640" y="4677593"/>
            <a:ext cx="5394960" cy="1631767"/>
          </a:xfrm>
          <a:prstGeom prst="roundRect">
            <a:avLst>
              <a:gd name="adj" fmla="val 672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Workflow heading"/>
          <p:cNvSpPr txBox="1"/>
          <p:nvPr/>
        </p:nvSpPr>
        <p:spPr>
          <a:xfrm>
            <a:off x="822960" y="4860473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What the AI layer does</a:t>
            </a:r>
            <a:endParaRPr lang="en-US" sz="1800" dirty="0"/>
          </a:p>
        </p:txBody>
      </p:sp>
      <p:sp>
        <p:nvSpPr>
          <p:cNvPr id="6" name="Workflow text"/>
          <p:cNvSpPr txBox="1"/>
          <p:nvPr/>
        </p:nvSpPr>
        <p:spPr>
          <a:xfrm>
            <a:off x="822960" y="5317673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Gemini 1.5 Flash reads the computed metrics and flags BTC-USD as the highest-risk asset (avg score 0.54), with 2,593,002 total volume units tracked.</a:t>
            </a:r>
            <a:endParaRPr lang="en-US" sz="1400" dirty="0"/>
          </a:p>
        </p:txBody>
      </p:sp>
      <p:sp>
        <p:nvSpPr>
          <p:cNvPr id="7" name="Challenge card"/>
          <p:cNvSpPr/>
          <p:nvPr/>
        </p:nvSpPr>
        <p:spPr>
          <a:xfrm>
            <a:off x="6245352" y="4677593"/>
            <a:ext cx="5394960" cy="1631767"/>
          </a:xfrm>
          <a:prstGeom prst="roundRect">
            <a:avLst>
              <a:gd name="adj" fmla="val 672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Challenge heading"/>
          <p:cNvSpPr txBox="1"/>
          <p:nvPr/>
        </p:nvSpPr>
        <p:spPr>
          <a:xfrm>
            <a:off x="6519672" y="4860473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Challenge solved</a:t>
            </a:r>
            <a:endParaRPr lang="en-US" sz="1800" dirty="0"/>
          </a:p>
        </p:txBody>
      </p:sp>
      <p:sp>
        <p:nvSpPr>
          <p:cNvPr id="9" name="Challenge text"/>
          <p:cNvSpPr txBox="1"/>
          <p:nvPr/>
        </p:nvSpPr>
        <p:spPr>
          <a:xfrm>
            <a:off x="6519672" y="5317673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New AQ. prefix API keys broke the URL ?key= format and returned 404 errors. Moving the key into the x-goog-api-key request header fixed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Phase 3: Live Dashboard &amp; Risk Insights</a:t>
            </a:r>
            <a:endParaRPr lang="en-US" sz="3200" dirty="0"/>
          </a:p>
        </p:txBody>
      </p:sp>
      <p:pic>
        <p:nvPicPr>
          <p:cNvPr id="3" name="Image 0" descr="Looker Studio dashboard with scorecards, charts and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647539" cy="4206240"/>
          </a:xfrm>
          <a:prstGeom prst="rect">
            <a:avLst/>
          </a:prstGeom>
        </p:spPr>
      </p:pic>
      <p:sp>
        <p:nvSpPr>
          <p:cNvPr id="4" name="Image caption"/>
          <p:cNvSpPr txBox="1"/>
          <p:nvPr/>
        </p:nvSpPr>
        <p:spPr>
          <a:xfrm>
            <a:off x="548640" y="5806440"/>
            <a:ext cx="56475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Looker Studio dashboard connected live to BigQuery</a:t>
            </a:r>
            <a:endParaRPr lang="en-US" sz="1200" dirty="0"/>
          </a:p>
        </p:txBody>
      </p:sp>
      <p:sp>
        <p:nvSpPr>
          <p:cNvPr id="5" name="Scorecard 1"/>
          <p:cNvSpPr/>
          <p:nvPr/>
        </p:nvSpPr>
        <p:spPr>
          <a:xfrm>
            <a:off x="6607659" y="1463040"/>
            <a:ext cx="2402026" cy="123444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Scorecard value 1"/>
          <p:cNvSpPr txBox="1"/>
          <p:nvPr/>
        </p:nvSpPr>
        <p:spPr>
          <a:xfrm>
            <a:off x="6790539" y="1554480"/>
            <a:ext cx="20362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</a:rPr>
              <a:t>0.48</a:t>
            </a:r>
            <a:endParaRPr lang="en-US" sz="3400" dirty="0"/>
          </a:p>
        </p:txBody>
      </p:sp>
      <p:sp>
        <p:nvSpPr>
          <p:cNvPr id="7" name="Scorecard label 1"/>
          <p:cNvSpPr txBox="1"/>
          <p:nvPr/>
        </p:nvSpPr>
        <p:spPr>
          <a:xfrm>
            <a:off x="6790539" y="2194560"/>
            <a:ext cx="20362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baseline portfolio risk score</a:t>
            </a:r>
            <a:endParaRPr lang="en-US" sz="1300" dirty="0"/>
          </a:p>
        </p:txBody>
      </p:sp>
      <p:sp>
        <p:nvSpPr>
          <p:cNvPr id="8" name="Scorecard 2"/>
          <p:cNvSpPr/>
          <p:nvPr/>
        </p:nvSpPr>
        <p:spPr>
          <a:xfrm>
            <a:off x="9238286" y="1463040"/>
            <a:ext cx="2402026" cy="123444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corecard value 2"/>
          <p:cNvSpPr txBox="1"/>
          <p:nvPr/>
        </p:nvSpPr>
        <p:spPr>
          <a:xfrm>
            <a:off x="9421166" y="1554480"/>
            <a:ext cx="20362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</a:rPr>
              <a:t>100</a:t>
            </a:r>
            <a:endParaRPr lang="en-US" sz="3400" dirty="0"/>
          </a:p>
        </p:txBody>
      </p:sp>
      <p:sp>
        <p:nvSpPr>
          <p:cNvPr id="10" name="Scorecard label 2"/>
          <p:cNvSpPr txBox="1"/>
          <p:nvPr/>
        </p:nvSpPr>
        <p:spPr>
          <a:xfrm>
            <a:off x="9421166" y="2194560"/>
            <a:ext cx="20362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ingested records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607659" y="2926080"/>
          <a:ext cx="5032653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Business Question &amp; Recommendation</a:t>
            </a:r>
            <a:endParaRPr lang="en-US" sz="3200" dirty="0"/>
          </a:p>
        </p:txBody>
      </p:sp>
      <p:sp>
        <p:nvSpPr>
          <p:cNvPr id="3" name="Question card"/>
          <p:cNvSpPr/>
          <p:nvPr/>
        </p:nvSpPr>
        <p:spPr>
          <a:xfrm>
            <a:off x="548640" y="14173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Business question"/>
          <p:cNvSpPr txBox="1"/>
          <p:nvPr/>
        </p:nvSpPr>
        <p:spPr>
          <a:xfrm>
            <a:off x="868680" y="1417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Question: which asset should the risk team review first?</a:t>
            </a:r>
            <a:endParaRPr lang="en-US" sz="2400" dirty="0"/>
          </a:p>
        </p:txBody>
      </p:sp>
      <p:sp>
        <p:nvSpPr>
          <p:cNvPr id="5" name="Finding card 1"/>
          <p:cNvSpPr/>
          <p:nvPr/>
        </p:nvSpPr>
        <p:spPr>
          <a:xfrm>
            <a:off x="548640" y="2514600"/>
            <a:ext cx="3575304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Finding asset 1"/>
          <p:cNvSpPr txBox="1"/>
          <p:nvPr/>
        </p:nvSpPr>
        <p:spPr>
          <a:xfrm>
            <a:off x="82296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BTC-USD</a:t>
            </a:r>
            <a:endParaRPr lang="en-US" sz="1800" dirty="0"/>
          </a:p>
        </p:txBody>
      </p:sp>
      <p:sp>
        <p:nvSpPr>
          <p:cNvPr id="7" name="Finding value 1"/>
          <p:cNvSpPr txBox="1"/>
          <p:nvPr/>
        </p:nvSpPr>
        <p:spPr>
          <a:xfrm>
            <a:off x="822960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$36.97B</a:t>
            </a:r>
            <a:endParaRPr lang="en-US" sz="4000" dirty="0"/>
          </a:p>
        </p:txBody>
      </p:sp>
      <p:sp>
        <p:nvSpPr>
          <p:cNvPr id="8" name="Finding detail 1"/>
          <p:cNvSpPr txBox="1"/>
          <p:nvPr/>
        </p:nvSpPr>
        <p:spPr>
          <a:xfrm>
            <a:off x="82296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Largest capital exposure and highest average risk score (0.54)</a:t>
            </a:r>
            <a:endParaRPr lang="en-US" sz="1400" dirty="0"/>
          </a:p>
        </p:txBody>
      </p:sp>
      <p:sp>
        <p:nvSpPr>
          <p:cNvPr id="9" name="Finding card 2"/>
          <p:cNvSpPr/>
          <p:nvPr/>
        </p:nvSpPr>
        <p:spPr>
          <a:xfrm>
            <a:off x="4306824" y="2514600"/>
            <a:ext cx="3575304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inding asset 2"/>
          <p:cNvSpPr txBox="1"/>
          <p:nvPr/>
        </p:nvSpPr>
        <p:spPr>
          <a:xfrm>
            <a:off x="4581144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PYPL</a:t>
            </a:r>
            <a:endParaRPr lang="en-US" sz="1800" dirty="0"/>
          </a:p>
        </p:txBody>
      </p:sp>
      <p:sp>
        <p:nvSpPr>
          <p:cNvPr id="11" name="Finding value 2"/>
          <p:cNvSpPr txBox="1"/>
          <p:nvPr/>
        </p:nvSpPr>
        <p:spPr>
          <a:xfrm>
            <a:off x="4581144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30.0%</a:t>
            </a:r>
            <a:endParaRPr lang="en-US" sz="4000" dirty="0"/>
          </a:p>
        </p:txBody>
      </p:sp>
      <p:sp>
        <p:nvSpPr>
          <p:cNvPr id="12" name="Finding detail 2"/>
          <p:cNvSpPr txBox="1"/>
          <p:nvPr/>
        </p:nvSpPr>
        <p:spPr>
          <a:xfrm>
            <a:off x="4581144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Highest high-risk anomaly rate: 6 of 20 records flagged</a:t>
            </a:r>
            <a:endParaRPr lang="en-US" sz="1400" dirty="0"/>
          </a:p>
        </p:txBody>
      </p:sp>
      <p:sp>
        <p:nvSpPr>
          <p:cNvPr id="13" name="Finding card 3"/>
          <p:cNvSpPr/>
          <p:nvPr/>
        </p:nvSpPr>
        <p:spPr>
          <a:xfrm>
            <a:off x="8065008" y="2514600"/>
            <a:ext cx="3575304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inding asset 3"/>
          <p:cNvSpPr txBox="1"/>
          <p:nvPr/>
        </p:nvSpPr>
        <p:spPr>
          <a:xfrm>
            <a:off x="8339328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VISA-US</a:t>
            </a:r>
            <a:endParaRPr lang="en-US" sz="1800" dirty="0"/>
          </a:p>
        </p:txBody>
      </p:sp>
      <p:sp>
        <p:nvSpPr>
          <p:cNvPr id="15" name="Finding value 3"/>
          <p:cNvSpPr txBox="1"/>
          <p:nvPr/>
        </p:nvSpPr>
        <p:spPr>
          <a:xfrm>
            <a:off x="8339328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28.6%</a:t>
            </a:r>
            <a:endParaRPr lang="en-US" sz="4000" dirty="0"/>
          </a:p>
        </p:txBody>
      </p:sp>
      <p:sp>
        <p:nvSpPr>
          <p:cNvPr id="16" name="Finding detail 3"/>
          <p:cNvSpPr txBox="1"/>
          <p:nvPr/>
        </p:nvSpPr>
        <p:spPr>
          <a:xfrm>
            <a:off x="8339328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Second-highest anomaly rate: 4 of 14 records flagged</a:t>
            </a:r>
            <a:endParaRPr lang="en-US" sz="1400" dirty="0"/>
          </a:p>
        </p:txBody>
      </p:sp>
      <p:sp>
        <p:nvSpPr>
          <p:cNvPr id="17" name="Recommendation card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Recommendation"/>
          <p:cNvSpPr txBox="1"/>
          <p:nvPr/>
        </p:nvSpPr>
        <p:spPr>
          <a:xfrm>
            <a:off x="868680" y="50749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Recommendation: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review BTC-USD exposure limits first, then investigate the PYPL and VISA-US anomalies. Confirm on a larger dataset before acting.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Measurable Business Value</a:t>
            </a:r>
            <a:endParaRPr lang="en-US" sz="3200" dirty="0"/>
          </a:p>
        </p:txBody>
      </p:sp>
      <p:sp>
        <p:nvSpPr>
          <p:cNvPr id="3" name="Impact card 1"/>
          <p:cNvSpPr/>
          <p:nvPr/>
        </p:nvSpPr>
        <p:spPr>
          <a:xfrm>
            <a:off x="548640" y="1463040"/>
            <a:ext cx="3575304" cy="448056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mpact value 1"/>
          <p:cNvSpPr txBox="1"/>
          <p:nvPr/>
        </p:nvSpPr>
        <p:spPr>
          <a:xfrm>
            <a:off x="822960" y="1737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</a:rPr>
              <a:t>1 click</a:t>
            </a:r>
            <a:endParaRPr lang="en-US" sz="5200" dirty="0"/>
          </a:p>
        </p:txBody>
      </p:sp>
      <p:sp>
        <p:nvSpPr>
          <p:cNvPr id="5" name="Impact heading 1"/>
          <p:cNvSpPr txBox="1"/>
          <p:nvPr/>
        </p:nvSpPr>
        <p:spPr>
          <a:xfrm>
            <a:off x="82296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Analytics time reduction</a:t>
            </a:r>
            <a:endParaRPr lang="en-US" sz="2000" dirty="0"/>
          </a:p>
        </p:txBody>
      </p:sp>
      <p:sp>
        <p:nvSpPr>
          <p:cNvPr id="6" name="Impact detail 1"/>
          <p:cNvSpPr txBox="1"/>
          <p:nvPr/>
        </p:nvSpPr>
        <p:spPr>
          <a:xfrm>
            <a:off x="822960" y="36118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Ad-hoc SQL scripts and spreadsheet steps replaced by one automated run.</a:t>
            </a:r>
            <a:endParaRPr lang="en-US" sz="1500" dirty="0"/>
          </a:p>
        </p:txBody>
      </p:sp>
      <p:sp>
        <p:nvSpPr>
          <p:cNvPr id="7" name="Impact card 2"/>
          <p:cNvSpPr/>
          <p:nvPr/>
        </p:nvSpPr>
        <p:spPr>
          <a:xfrm>
            <a:off x="4306824" y="1463040"/>
            <a:ext cx="3575304" cy="448056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mpact value 2"/>
          <p:cNvSpPr txBox="1"/>
          <p:nvPr/>
        </p:nvSpPr>
        <p:spPr>
          <a:xfrm>
            <a:off x="4581144" y="1737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2"/>
                </a:solidFill>
              </a:rPr>
              <a:t>2.5M+</a:t>
            </a:r>
            <a:endParaRPr lang="en-US" sz="5200" dirty="0"/>
          </a:p>
        </p:txBody>
      </p:sp>
      <p:sp>
        <p:nvSpPr>
          <p:cNvPr id="9" name="Impact heading 2"/>
          <p:cNvSpPr txBox="1"/>
          <p:nvPr/>
        </p:nvSpPr>
        <p:spPr>
          <a:xfrm>
            <a:off x="4581144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Volume units processed</a:t>
            </a:r>
            <a:endParaRPr lang="en-US" sz="2000" dirty="0"/>
          </a:p>
        </p:txBody>
      </p:sp>
      <p:sp>
        <p:nvSpPr>
          <p:cNvPr id="10" name="Impact detail 2"/>
          <p:cNvSpPr txBox="1"/>
          <p:nvPr/>
        </p:nvSpPr>
        <p:spPr>
          <a:xfrm>
            <a:off x="4581144" y="36118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About $39B in simulated capital exposure analysed across crypto and equities, straight from cloud tables.</a:t>
            </a:r>
            <a:endParaRPr lang="en-US" sz="1500" dirty="0"/>
          </a:p>
        </p:txBody>
      </p:sp>
      <p:sp>
        <p:nvSpPr>
          <p:cNvPr id="11" name="Impact card 3"/>
          <p:cNvSpPr/>
          <p:nvPr/>
        </p:nvSpPr>
        <p:spPr>
          <a:xfrm>
            <a:off x="8065008" y="1463040"/>
            <a:ext cx="3575304" cy="448056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mpact value 3"/>
          <p:cNvSpPr txBox="1"/>
          <p:nvPr/>
        </p:nvSpPr>
        <p:spPr>
          <a:xfrm>
            <a:off x="8339328" y="1737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accent3"/>
                </a:solidFill>
              </a:rPr>
              <a:t>3</a:t>
            </a:r>
            <a:endParaRPr lang="en-US" sz="5200" dirty="0"/>
          </a:p>
        </p:txBody>
      </p:sp>
      <p:sp>
        <p:nvSpPr>
          <p:cNvPr id="13" name="Impact heading 3"/>
          <p:cNvSpPr txBox="1"/>
          <p:nvPr/>
        </p:nvSpPr>
        <p:spPr>
          <a:xfrm>
            <a:off x="8339328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Technical blockers resolved</a:t>
            </a:r>
            <a:endParaRPr lang="en-US" sz="2000" dirty="0"/>
          </a:p>
        </p:txBody>
      </p:sp>
      <p:sp>
        <p:nvSpPr>
          <p:cNvPr id="14" name="Impact detail 3"/>
          <p:cNvSpPr txBox="1"/>
          <p:nvPr/>
        </p:nvSpPr>
        <p:spPr>
          <a:xfrm>
            <a:off x="8339328" y="36118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PowerShell path limits, OS file locks and an API header conflict, fixed to keep the pipeline running reliably.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Limitations &amp; Next Steps</a:t>
            </a:r>
            <a:endParaRPr lang="en-US" sz="3200" dirty="0"/>
          </a:p>
        </p:txBody>
      </p:sp>
      <p:sp>
        <p:nvSpPr>
          <p:cNvPr id="3" name="Limitations card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itations heading"/>
          <p:cNvSpPr txBox="1"/>
          <p:nvPr/>
        </p:nvSpPr>
        <p:spPr>
          <a:xfrm>
            <a:off x="86868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Current limitations</a:t>
            </a:r>
            <a:endParaRPr lang="en-US" sz="2200" dirty="0"/>
          </a:p>
        </p:txBody>
      </p:sp>
      <p:sp>
        <p:nvSpPr>
          <p:cNvPr id="5" name="Limitations list"/>
          <p:cNvSpPr txBox="1"/>
          <p:nvPr/>
        </p:nvSpPr>
        <p:spPr>
          <a:xfrm>
            <a:off x="868680" y="228600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 is simulated, not live market data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100 records, about 20 per asset, so anomaly rates are indicative only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Findings show the pipeline works; they are not investment conclusions</a:t>
            </a:r>
            <a:endParaRPr lang="en-US" sz="1600" dirty="0"/>
          </a:p>
        </p:txBody>
      </p:sp>
      <p:sp>
        <p:nvSpPr>
          <p:cNvPr id="6" name="Next steps heading"/>
          <p:cNvSpPr txBox="1"/>
          <p:nvPr/>
        </p:nvSpPr>
        <p:spPr>
          <a:xfrm>
            <a:off x="6035040" y="14630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Next steps</a:t>
            </a:r>
            <a:endParaRPr lang="en-US" sz="2200" dirty="0"/>
          </a:p>
        </p:txBody>
      </p:sp>
      <p:sp>
        <p:nvSpPr>
          <p:cNvPr id="7" name="Next step card 1"/>
          <p:cNvSpPr/>
          <p:nvPr/>
        </p:nvSpPr>
        <p:spPr>
          <a:xfrm>
            <a:off x="6035040" y="2057400"/>
            <a:ext cx="56052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ext step number 1"/>
          <p:cNvSpPr/>
          <p:nvPr/>
        </p:nvSpPr>
        <p:spPr>
          <a:xfrm>
            <a:off x="6217920" y="22128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Next step number 1 label"/>
          <p:cNvSpPr txBox="1"/>
          <p:nvPr/>
        </p:nvSpPr>
        <p:spPr>
          <a:xfrm>
            <a:off x="6217920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Next step title 1"/>
          <p:cNvSpPr txBox="1"/>
          <p:nvPr/>
        </p:nvSpPr>
        <p:spPr>
          <a:xfrm>
            <a:off x="6949440" y="2148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Scale up</a:t>
            </a:r>
            <a:endParaRPr lang="en-US" sz="1800" dirty="0"/>
          </a:p>
        </p:txBody>
      </p:sp>
      <p:sp>
        <p:nvSpPr>
          <p:cNvPr id="11" name="Next step detail 1"/>
          <p:cNvSpPr txBox="1"/>
          <p:nvPr/>
        </p:nvSpPr>
        <p:spPr>
          <a:xfrm>
            <a:off x="6949440" y="25146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Load thousands of real market rows through the same pipeline.</a:t>
            </a:r>
            <a:endParaRPr lang="en-US" sz="1400" dirty="0"/>
          </a:p>
        </p:txBody>
      </p:sp>
      <p:sp>
        <p:nvSpPr>
          <p:cNvPr id="12" name="Next step card 2"/>
          <p:cNvSpPr/>
          <p:nvPr/>
        </p:nvSpPr>
        <p:spPr>
          <a:xfrm>
            <a:off x="6035040" y="3035808"/>
            <a:ext cx="56052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ext step number 2"/>
          <p:cNvSpPr/>
          <p:nvPr/>
        </p:nvSpPr>
        <p:spPr>
          <a:xfrm>
            <a:off x="6217920" y="3191256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Next step number 2 label"/>
          <p:cNvSpPr txBox="1"/>
          <p:nvPr/>
        </p:nvSpPr>
        <p:spPr>
          <a:xfrm>
            <a:off x="6217920" y="3191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Next step title 2"/>
          <p:cNvSpPr txBox="1"/>
          <p:nvPr/>
        </p:nvSpPr>
        <p:spPr>
          <a:xfrm>
            <a:off x="6949440" y="3127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Apply to lending</a:t>
            </a:r>
            <a:endParaRPr lang="en-US" sz="1800" dirty="0"/>
          </a:p>
        </p:txBody>
      </p:sp>
      <p:sp>
        <p:nvSpPr>
          <p:cNvPr id="16" name="Next step detail 2"/>
          <p:cNvSpPr txBox="1"/>
          <p:nvPr/>
        </p:nvSpPr>
        <p:spPr>
          <a:xfrm>
            <a:off x="6949440" y="34930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Track NPA, DPD buckets and collateral risk on loan data.</a:t>
            </a:r>
            <a:endParaRPr lang="en-US" sz="1400" dirty="0"/>
          </a:p>
        </p:txBody>
      </p:sp>
      <p:sp>
        <p:nvSpPr>
          <p:cNvPr id="17" name="Next step card 3"/>
          <p:cNvSpPr/>
          <p:nvPr/>
        </p:nvSpPr>
        <p:spPr>
          <a:xfrm>
            <a:off x="6035040" y="4014216"/>
            <a:ext cx="56052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ext step number 3"/>
          <p:cNvSpPr/>
          <p:nvPr/>
        </p:nvSpPr>
        <p:spPr>
          <a:xfrm>
            <a:off x="6217920" y="416966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Next step number 3 label"/>
          <p:cNvSpPr txBox="1"/>
          <p:nvPr/>
        </p:nvSpPr>
        <p:spPr>
          <a:xfrm>
            <a:off x="6217920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Next step title 3"/>
          <p:cNvSpPr txBox="1"/>
          <p:nvPr/>
        </p:nvSpPr>
        <p:spPr>
          <a:xfrm>
            <a:off x="6949440" y="41056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Schedule refresh</a:t>
            </a:r>
            <a:endParaRPr lang="en-US" sz="1800" dirty="0"/>
          </a:p>
        </p:txBody>
      </p:sp>
      <p:sp>
        <p:nvSpPr>
          <p:cNvPr id="21" name="Next step detail 3"/>
          <p:cNvSpPr txBox="1"/>
          <p:nvPr/>
        </p:nvSpPr>
        <p:spPr>
          <a:xfrm>
            <a:off x="6949440" y="44714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Run automatically so dashboards stay current.</a:t>
            </a:r>
            <a:endParaRPr lang="en-US" sz="1400" dirty="0"/>
          </a:p>
        </p:txBody>
      </p:sp>
      <p:sp>
        <p:nvSpPr>
          <p:cNvPr id="22" name="Next step card 4"/>
          <p:cNvSpPr/>
          <p:nvPr/>
        </p:nvSpPr>
        <p:spPr>
          <a:xfrm>
            <a:off x="6035040" y="4992624"/>
            <a:ext cx="56052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Next step number 4"/>
          <p:cNvSpPr/>
          <p:nvPr/>
        </p:nvSpPr>
        <p:spPr>
          <a:xfrm>
            <a:off x="6217920" y="514807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Next step number 4 label"/>
          <p:cNvSpPr txBox="1"/>
          <p:nvPr/>
        </p:nvSpPr>
        <p:spPr>
          <a:xfrm>
            <a:off x="621792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Next step title 4"/>
          <p:cNvSpPr txBox="1"/>
          <p:nvPr/>
        </p:nvSpPr>
        <p:spPr>
          <a:xfrm>
            <a:off x="6949440" y="50840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Publish the code</a:t>
            </a:r>
            <a:endParaRPr lang="en-US" sz="1800" dirty="0"/>
          </a:p>
        </p:txBody>
      </p:sp>
      <p:sp>
        <p:nvSpPr>
          <p:cNvPr id="26" name="Next step detail 4"/>
          <p:cNvSpPr txBox="1"/>
          <p:nvPr/>
        </p:nvSpPr>
        <p:spPr>
          <a:xfrm>
            <a:off x="6949440" y="54498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Share the code and a README on GitHub.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Skills Demonstrated</a:t>
            </a:r>
            <a:endParaRPr lang="en-US" sz="3200" dirty="0"/>
          </a:p>
        </p:txBody>
      </p:sp>
      <p:sp>
        <p:nvSpPr>
          <p:cNvPr id="3" name="Skill card 1"/>
          <p:cNvSpPr/>
          <p:nvPr/>
        </p:nvSpPr>
        <p:spPr>
          <a:xfrm>
            <a:off x="548640" y="150876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kill number 1"/>
          <p:cNvSpPr/>
          <p:nvPr/>
        </p:nvSpPr>
        <p:spPr>
          <a:xfrm>
            <a:off x="777240" y="18013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kill number 1 label"/>
          <p:cNvSpPr txBox="1"/>
          <p:nvPr/>
        </p:nvSpPr>
        <p:spPr>
          <a:xfrm>
            <a:off x="77724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kill label 1"/>
          <p:cNvSpPr txBox="1"/>
          <p:nvPr/>
        </p:nvSpPr>
        <p:spPr>
          <a:xfrm>
            <a:off x="1508760" y="1691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SQL &amp; BigQuery</a:t>
            </a:r>
            <a:endParaRPr lang="en-US" sz="1700" dirty="0"/>
          </a:p>
        </p:txBody>
      </p:sp>
      <p:sp>
        <p:nvSpPr>
          <p:cNvPr id="7" name="Skill card 2"/>
          <p:cNvSpPr/>
          <p:nvPr/>
        </p:nvSpPr>
        <p:spPr>
          <a:xfrm>
            <a:off x="3977640" y="150876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kill number 2"/>
          <p:cNvSpPr/>
          <p:nvPr/>
        </p:nvSpPr>
        <p:spPr>
          <a:xfrm>
            <a:off x="4206240" y="18013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kill number 2 label"/>
          <p:cNvSpPr txBox="1"/>
          <p:nvPr/>
        </p:nvSpPr>
        <p:spPr>
          <a:xfrm>
            <a:off x="420624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kill label 2"/>
          <p:cNvSpPr txBox="1"/>
          <p:nvPr/>
        </p:nvSpPr>
        <p:spPr>
          <a:xfrm>
            <a:off x="4937760" y="1691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Python &amp; Pandas</a:t>
            </a:r>
            <a:endParaRPr lang="en-US" sz="1700" dirty="0"/>
          </a:p>
        </p:txBody>
      </p:sp>
      <p:sp>
        <p:nvSpPr>
          <p:cNvPr id="11" name="Skill card 3"/>
          <p:cNvSpPr/>
          <p:nvPr/>
        </p:nvSpPr>
        <p:spPr>
          <a:xfrm>
            <a:off x="548640" y="288036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kill number 3"/>
          <p:cNvSpPr/>
          <p:nvPr/>
        </p:nvSpPr>
        <p:spPr>
          <a:xfrm>
            <a:off x="777240" y="31729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kill number 3 label"/>
          <p:cNvSpPr txBox="1"/>
          <p:nvPr/>
        </p:nvSpPr>
        <p:spPr>
          <a:xfrm>
            <a:off x="77724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kill label 3"/>
          <p:cNvSpPr txBox="1"/>
          <p:nvPr/>
        </p:nvSpPr>
        <p:spPr>
          <a:xfrm>
            <a:off x="1508760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Cloud IAM security</a:t>
            </a:r>
            <a:endParaRPr lang="en-US" sz="1700" dirty="0"/>
          </a:p>
        </p:txBody>
      </p:sp>
      <p:sp>
        <p:nvSpPr>
          <p:cNvPr id="15" name="Skill card 4"/>
          <p:cNvSpPr/>
          <p:nvPr/>
        </p:nvSpPr>
        <p:spPr>
          <a:xfrm>
            <a:off x="3977640" y="288036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kill number 4"/>
          <p:cNvSpPr/>
          <p:nvPr/>
        </p:nvSpPr>
        <p:spPr>
          <a:xfrm>
            <a:off x="4206240" y="31729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kill number 4 label"/>
          <p:cNvSpPr txBox="1"/>
          <p:nvPr/>
        </p:nvSpPr>
        <p:spPr>
          <a:xfrm>
            <a:off x="420624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kill label 4"/>
          <p:cNvSpPr txBox="1"/>
          <p:nvPr/>
        </p:nvSpPr>
        <p:spPr>
          <a:xfrm>
            <a:off x="4937760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GenAI integration</a:t>
            </a:r>
            <a:endParaRPr lang="en-US" sz="1700" dirty="0"/>
          </a:p>
        </p:txBody>
      </p:sp>
      <p:sp>
        <p:nvSpPr>
          <p:cNvPr id="19" name="Skill card 5"/>
          <p:cNvSpPr/>
          <p:nvPr/>
        </p:nvSpPr>
        <p:spPr>
          <a:xfrm>
            <a:off x="548640" y="425196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kill number 5"/>
          <p:cNvSpPr/>
          <p:nvPr/>
        </p:nvSpPr>
        <p:spPr>
          <a:xfrm>
            <a:off x="777240" y="45445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kill number 5 label"/>
          <p:cNvSpPr txBox="1"/>
          <p:nvPr/>
        </p:nvSpPr>
        <p:spPr>
          <a:xfrm>
            <a:off x="77724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Skill label 5"/>
          <p:cNvSpPr txBox="1"/>
          <p:nvPr/>
        </p:nvSpPr>
        <p:spPr>
          <a:xfrm>
            <a:off x="1508760" y="4434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BI dashboards</a:t>
            </a:r>
            <a:endParaRPr lang="en-US" sz="1700" dirty="0"/>
          </a:p>
        </p:txBody>
      </p:sp>
      <p:sp>
        <p:nvSpPr>
          <p:cNvPr id="23" name="Skill card 6"/>
          <p:cNvSpPr/>
          <p:nvPr/>
        </p:nvSpPr>
        <p:spPr>
          <a:xfrm>
            <a:off x="3977640" y="4251960"/>
            <a:ext cx="3200400" cy="1143000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kill number 6"/>
          <p:cNvSpPr/>
          <p:nvPr/>
        </p:nvSpPr>
        <p:spPr>
          <a:xfrm>
            <a:off x="4206240" y="45445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kill number 6 label"/>
          <p:cNvSpPr txBox="1"/>
          <p:nvPr/>
        </p:nvSpPr>
        <p:spPr>
          <a:xfrm>
            <a:off x="420624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Skill label 6"/>
          <p:cNvSpPr txBox="1"/>
          <p:nvPr/>
        </p:nvSpPr>
        <p:spPr>
          <a:xfrm>
            <a:off x="4937760" y="4434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Business storytelling</a:t>
            </a:r>
            <a:endParaRPr lang="en-US" sz="1700" dirty="0"/>
          </a:p>
        </p:txBody>
      </p:sp>
      <p:sp>
        <p:nvSpPr>
          <p:cNvPr id="27" name="Closing card"/>
          <p:cNvSpPr/>
          <p:nvPr/>
        </p:nvSpPr>
        <p:spPr>
          <a:xfrm>
            <a:off x="7680960" y="1508760"/>
            <a:ext cx="3959352" cy="3886200"/>
          </a:xfrm>
          <a:prstGeom prst="roundRect">
            <a:avLst>
              <a:gd name="adj" fmla="val 282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Closing heading"/>
          <p:cNvSpPr txBox="1"/>
          <p:nvPr/>
        </p:nvSpPr>
        <p:spPr>
          <a:xfrm>
            <a:off x="8001000" y="2011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Thank you</a:t>
            </a:r>
            <a:endParaRPr lang="en-US" sz="3600" dirty="0"/>
          </a:p>
        </p:txBody>
      </p:sp>
      <p:sp>
        <p:nvSpPr>
          <p:cNvPr id="29" name="Closing tagline"/>
          <p:cNvSpPr txBox="1"/>
          <p:nvPr/>
        </p:nvSpPr>
        <p:spPr>
          <a:xfrm>
            <a:off x="8001000" y="2880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From raw data to executive insight, automatically.</a:t>
            </a:r>
            <a:endParaRPr lang="en-US" sz="1800" dirty="0"/>
          </a:p>
        </p:txBody>
      </p:sp>
      <p:sp>
        <p:nvSpPr>
          <p:cNvPr id="30" name="Closing name"/>
          <p:cNvSpPr txBox="1"/>
          <p:nvPr/>
        </p:nvSpPr>
        <p:spPr>
          <a:xfrm>
            <a:off x="8001000" y="4206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Supriya</a:t>
            </a:r>
            <a:endParaRPr lang="en-US" sz="2200" dirty="0"/>
          </a:p>
        </p:txBody>
      </p:sp>
      <p:sp>
        <p:nvSpPr>
          <p:cNvPr id="31" name="Closing role"/>
          <p:cNvSpPr txBox="1"/>
          <p:nvPr/>
        </p:nvSpPr>
        <p:spPr>
          <a:xfrm>
            <a:off x="8001000" y="4663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Business Analyst  |  Data Analyst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Tech Risk">
  <a:themeElements>
    <a:clrScheme name="FinTech Risk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0284C7"/>
      </a:accent1>
      <a:accent2>
        <a:srgbClr val="059669"/>
      </a:accent2>
      <a:accent3>
        <a:srgbClr val="D97706"/>
      </a:accent3>
      <a:accent4>
        <a:srgbClr val="DC2626"/>
      </a:accent4>
      <a:accent5>
        <a:srgbClr val="38BDF8"/>
      </a:accent5>
      <a:accent6>
        <a:srgbClr val="64748B"/>
      </a:accent6>
      <a:hlink>
        <a:srgbClr val="0284C7"/>
      </a:hlink>
      <a:folHlink>
        <a:srgbClr val="64748B"/>
      </a:folHlink>
    </a:clrScheme>
    <a:fontScheme name="FinTech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FinTech Cloud Data Ingestion &amp; Portfolio Risk Analytics Engine</dc:title>
  <dc:subject>PptxGenJS Presentation</dc:subject>
  <dc:creator>Supriya</dc:creator>
  <cp:lastModifiedBy>Supriya</cp:lastModifiedBy>
  <cp:revision>1</cp:revision>
  <dcterms:created xsi:type="dcterms:W3CDTF">2026-10-07T14:16:38Z</dcterms:created>
  <dcterms:modified xsi:type="dcterms:W3CDTF">2026-10-07T14:16:38Z</dcterms:modified>
</cp:coreProperties>
</file>